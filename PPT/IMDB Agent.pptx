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PT Sans Narrow"/>
      <p:regular r:id="rId13"/>
      <p:bold r:id="rId14"/>
    </p:embeddedFont>
    <p:embeddedFont>
      <p:font typeface="Open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jv6Y7LxCH8DvgoxzV+6aI7kVmT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TSansNarrow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-regular.fntdata"/><Relationship Id="rId14" Type="http://schemas.openxmlformats.org/officeDocument/2006/relationships/font" Target="fonts/PTSansNarrow-bold.fntdata"/><Relationship Id="rId17" Type="http://schemas.openxmlformats.org/officeDocument/2006/relationships/font" Target="fonts/OpenSans-italic.fntdata"/><Relationship Id="rId16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Ope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860806178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b860806178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860806178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b860806178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860806178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860806178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0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10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10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10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10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10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10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10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10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10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2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2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3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6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" name="Google Shape;47;p17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17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17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1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9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9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b="0" i="0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"/>
              <a:t>IMDB Movie Assistant</a:t>
            </a:r>
            <a:endParaRPr/>
          </a:p>
        </p:txBody>
      </p:sp>
      <p:sp>
        <p:nvSpPr>
          <p:cNvPr id="67" name="Google Shape;67;p1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LangGraph-Powered Hybrid Query System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73" name="Google Shape;73;p2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9111"/>
              <a:buFont typeface="Arial"/>
              <a:buNone/>
            </a:pPr>
            <a:r>
              <a:rPr lang="en" sz="18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Multi-agent IMDB chatbot combining DuckDB SQL and ChromaDB semantic search via LangGraph orchestration.</a:t>
            </a:r>
            <a:endParaRPr sz="1816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38461"/>
              <a:buFont typeface="Arial"/>
              <a:buNone/>
            </a:pPr>
            <a:r>
              <a:t/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500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2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 Stack</a:t>
            </a:r>
            <a:endParaRPr b="1" sz="22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494" lvl="0" marL="457200" rtl="0" algn="l">
              <a:spcBef>
                <a:spcPts val="1200"/>
              </a:spcBef>
              <a:spcAft>
                <a:spcPts val="0"/>
              </a:spcAft>
              <a:buClr>
                <a:srgbClr val="0D1117"/>
              </a:buClr>
              <a:buSzPct val="100000"/>
              <a:buFont typeface="Arial"/>
              <a:buChar char="●"/>
            </a:pPr>
            <a:r>
              <a:rPr b="1" lang="en" sz="1643">
                <a:solidFill>
                  <a:srgbClr val="0D1117"/>
                </a:solidFill>
                <a:latin typeface="Arial"/>
                <a:ea typeface="Arial"/>
                <a:cs typeface="Arial"/>
                <a:sym typeface="Arial"/>
              </a:rPr>
              <a:t>LangGraph:</a:t>
            </a:r>
            <a:r>
              <a:rPr lang="en" sz="1643">
                <a:solidFill>
                  <a:srgbClr val="0D1117"/>
                </a:solidFill>
                <a:latin typeface="Arial"/>
                <a:ea typeface="Arial"/>
                <a:cs typeface="Arial"/>
                <a:sym typeface="Arial"/>
              </a:rPr>
              <a:t> multi-agent orchestration</a:t>
            </a:r>
            <a:endParaRPr sz="1643">
              <a:solidFill>
                <a:srgbClr val="0D111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494" lvl="0" marL="45720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ct val="100000"/>
              <a:buFont typeface="Arial"/>
              <a:buChar char="●"/>
            </a:pPr>
            <a:r>
              <a:rPr b="1" lang="en" sz="1643">
                <a:solidFill>
                  <a:srgbClr val="0D1117"/>
                </a:solidFill>
                <a:latin typeface="Arial"/>
                <a:ea typeface="Arial"/>
                <a:cs typeface="Arial"/>
                <a:sym typeface="Arial"/>
              </a:rPr>
              <a:t>DuckDB:</a:t>
            </a:r>
            <a:r>
              <a:rPr lang="en" sz="1643">
                <a:solidFill>
                  <a:srgbClr val="0D1117"/>
                </a:solidFill>
                <a:latin typeface="Arial"/>
                <a:ea typeface="Arial"/>
                <a:cs typeface="Arial"/>
                <a:sym typeface="Arial"/>
              </a:rPr>
              <a:t> in-process OLAP SQL engine </a:t>
            </a:r>
            <a:br>
              <a:rPr lang="en" sz="1643">
                <a:solidFill>
                  <a:srgbClr val="0D111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643">
                <a:solidFill>
                  <a:srgbClr val="0D1117"/>
                </a:solidFill>
                <a:latin typeface="Arial"/>
                <a:ea typeface="Arial"/>
                <a:cs typeface="Arial"/>
                <a:sym typeface="Arial"/>
              </a:rPr>
              <a:t>(fast for analytics)</a:t>
            </a:r>
            <a:endParaRPr sz="1643">
              <a:solidFill>
                <a:srgbClr val="0D111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494" lvl="0" marL="45720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ct val="100000"/>
              <a:buFont typeface="Arial"/>
              <a:buChar char="●"/>
            </a:pPr>
            <a:r>
              <a:rPr b="1" lang="en" sz="1643">
                <a:solidFill>
                  <a:srgbClr val="0D1117"/>
                </a:solidFill>
                <a:latin typeface="Arial"/>
                <a:ea typeface="Arial"/>
                <a:cs typeface="Arial"/>
                <a:sym typeface="Arial"/>
              </a:rPr>
              <a:t>ChromaDB</a:t>
            </a:r>
            <a:r>
              <a:rPr lang="en" sz="1643">
                <a:solidFill>
                  <a:srgbClr val="0D1117"/>
                </a:solidFill>
                <a:latin typeface="Arial"/>
                <a:ea typeface="Arial"/>
                <a:cs typeface="Arial"/>
                <a:sym typeface="Arial"/>
              </a:rPr>
              <a:t>: vector store with OpenAI embeddings</a:t>
            </a:r>
            <a:endParaRPr sz="1643">
              <a:solidFill>
                <a:srgbClr val="0D111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494" lvl="0" marL="45720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ct val="100000"/>
              <a:buFont typeface="Arial"/>
              <a:buChar char="●"/>
            </a:pPr>
            <a:r>
              <a:rPr b="1" lang="en" sz="1643">
                <a:solidFill>
                  <a:srgbClr val="0D1117"/>
                </a:solidFill>
                <a:latin typeface="Arial"/>
                <a:ea typeface="Arial"/>
                <a:cs typeface="Arial"/>
                <a:sym typeface="Arial"/>
              </a:rPr>
              <a:t>GPT-4o-mini:</a:t>
            </a:r>
            <a:r>
              <a:rPr lang="en" sz="1643">
                <a:solidFill>
                  <a:srgbClr val="0D1117"/>
                </a:solidFill>
                <a:latin typeface="Arial"/>
                <a:ea typeface="Arial"/>
                <a:cs typeface="Arial"/>
                <a:sym typeface="Arial"/>
              </a:rPr>
              <a:t> low cost model for all agents</a:t>
            </a:r>
            <a:endParaRPr sz="1643">
              <a:solidFill>
                <a:srgbClr val="0D111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494" lvl="0" marL="45720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ct val="100000"/>
              <a:buFont typeface="Arial"/>
              <a:buChar char="●"/>
            </a:pPr>
            <a:r>
              <a:rPr b="1" lang="en" sz="1643">
                <a:solidFill>
                  <a:srgbClr val="0D1117"/>
                </a:solidFill>
                <a:latin typeface="Arial"/>
                <a:ea typeface="Arial"/>
                <a:cs typeface="Arial"/>
                <a:sym typeface="Arial"/>
              </a:rPr>
              <a:t>SQLite3:</a:t>
            </a:r>
            <a:r>
              <a:rPr lang="en" sz="1643">
                <a:solidFill>
                  <a:srgbClr val="0D1117"/>
                </a:solidFill>
                <a:latin typeface="Arial"/>
                <a:ea typeface="Arial"/>
                <a:cs typeface="Arial"/>
                <a:sym typeface="Arial"/>
              </a:rPr>
              <a:t> To store chat in memory</a:t>
            </a:r>
            <a:endParaRPr sz="1643">
              <a:solidFill>
                <a:srgbClr val="0D111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494" lvl="0" marL="45720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ct val="100000"/>
              <a:buFont typeface="Arial"/>
              <a:buChar char="●"/>
            </a:pPr>
            <a:r>
              <a:rPr b="1" lang="en" sz="1643">
                <a:solidFill>
                  <a:srgbClr val="0D1117"/>
                </a:solidFill>
                <a:latin typeface="Arial"/>
                <a:ea typeface="Arial"/>
                <a:cs typeface="Arial"/>
                <a:sym typeface="Arial"/>
              </a:rPr>
              <a:t>Streamlit:</a:t>
            </a:r>
            <a:r>
              <a:rPr lang="en" sz="1643">
                <a:solidFill>
                  <a:srgbClr val="0D1117"/>
                </a:solidFill>
                <a:latin typeface="Arial"/>
                <a:ea typeface="Arial"/>
                <a:cs typeface="Arial"/>
                <a:sym typeface="Arial"/>
              </a:rPr>
              <a:t> for Frontend</a:t>
            </a:r>
            <a:endParaRPr sz="1643">
              <a:solidFill>
                <a:srgbClr val="0D111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500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500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500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500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500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500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50000"/>
              <a:buFont typeface="Arial"/>
              <a:buNone/>
            </a:pPr>
            <a:r>
              <a:t/>
            </a:r>
            <a:endParaRPr sz="1200"/>
          </a:p>
        </p:txBody>
      </p:sp>
      <p:pic>
        <p:nvPicPr>
          <p:cNvPr id="74" name="Google Shape;7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2630" y="1576313"/>
            <a:ext cx="4126949" cy="2895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80" name="Google Shape;80;p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Challenge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conversational AI agent that answers questions about IMDB Top 1000 movies, handling: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b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Query Complexity: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Structured filtering: "Top 5 movies of 2019 by meta score"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Semantic understanding: "Movies with police involvement in the plot"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Complex combinations: "Comedy movies where death is involved"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Clarification needed: "Al Pacino movies over $50M" (lead role or any role?)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Functional Requirements: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 diverse test questions (from simple lookups to complex aggregations)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Need both precise filtering AND theme-based search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Conversational interface with memory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Reasoning and suggestions in responses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0547" y="1266325"/>
            <a:ext cx="2889200" cy="3161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SzPts val="3600"/>
              <a:buNone/>
            </a:pPr>
            <a:r>
              <a:rPr b="0" lang="en" sz="23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Feature 1&amp;2: Query Classification &amp; Open-ended Detection</a:t>
            </a:r>
            <a:endParaRPr sz="2300"/>
          </a:p>
        </p:txBody>
      </p:sp>
      <p:sp>
        <p:nvSpPr>
          <p:cNvPr id="87" name="Google Shape;87;p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Router Agent analyzes query intent:</a:t>
            </a:r>
            <a:endParaRPr b="1"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D111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D111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D111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D111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D111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Open-ended question’s</a:t>
            </a:r>
            <a:r>
              <a:rPr b="1"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detected:</a:t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D111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D1117"/>
                </a:solidFill>
              </a:rPr>
              <a:t>"Good movies" → What criteria? Rating? Votes? Gross?</a:t>
            </a:r>
            <a:endParaRPr sz="1300">
              <a:solidFill>
                <a:srgbClr val="0D111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D1117"/>
                </a:solidFill>
              </a:rPr>
              <a:t>"Popular films" → By IMDB rating, number of votes, or box office?</a:t>
            </a:r>
            <a:endParaRPr sz="1300">
              <a:solidFill>
                <a:srgbClr val="0D111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D1117"/>
                </a:solidFill>
              </a:rPr>
              <a:t>"Leonardo DiCaprio sci-fi" → Lead role only or any role?</a:t>
            </a:r>
            <a:endParaRPr sz="1300">
              <a:solidFill>
                <a:srgbClr val="0D1117"/>
              </a:solidFill>
            </a:endParaRPr>
          </a:p>
        </p:txBody>
      </p:sp>
      <p:pic>
        <p:nvPicPr>
          <p:cNvPr id="88" name="Google Shape;8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8" y="1840930"/>
            <a:ext cx="7839700" cy="123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860806178_1_4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SzPts val="3600"/>
              <a:buNone/>
            </a:pPr>
            <a:r>
              <a:rPr b="0" lang="en" sz="23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Feature 3&amp;4: </a:t>
            </a:r>
            <a:r>
              <a:rPr b="0" lang="en" sz="23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Error Handling</a:t>
            </a:r>
            <a:r>
              <a:rPr b="0" lang="en" sz="23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&amp; Short Term Memory</a:t>
            </a:r>
            <a:endParaRPr sz="2300"/>
          </a:p>
        </p:txBody>
      </p:sp>
      <p:sp>
        <p:nvSpPr>
          <p:cNvPr id="94" name="Google Shape;94;g3b860806178_1_4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Graceful degradation:</a:t>
            </a:r>
            <a:endParaRPr b="1" sz="1500">
              <a:solidFill>
                <a:srgbClr val="0D11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 syntax error → Try semantic search as fallback</a:t>
            </a:r>
            <a:endParaRPr sz="1200">
              <a:solidFill>
                <a:srgbClr val="0D11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 store unavailable → SQL-only mode</a:t>
            </a:r>
            <a:endParaRPr sz="1200">
              <a:solidFill>
                <a:srgbClr val="0D11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 error → User-friendly message with retry suggestions</a:t>
            </a:r>
            <a:endParaRPr sz="1200">
              <a:solidFill>
                <a:srgbClr val="0D11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results → Suggest broader criteria</a:t>
            </a:r>
            <a:endParaRPr sz="1200">
              <a:solidFill>
                <a:srgbClr val="0D111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D111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Persistent Memory</a:t>
            </a:r>
            <a:r>
              <a:rPr b="1" lang="en" sz="16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600">
              <a:solidFill>
                <a:srgbClr val="0D111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Multi-turn context: Agent remembers previous queries across sessions (e.g., "Show Spielberg movies" → "Which has highest rating?")</a:t>
            </a:r>
            <a:endParaRPr sz="1200">
              <a:solidFill>
                <a:srgbClr val="0D11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Thread persistence: Each conversation stored as unique thread ID via LangGraph's SqliteSaver - survives browser closes/reopens</a:t>
            </a:r>
            <a:endParaRPr sz="1200">
              <a:solidFill>
                <a:srgbClr val="0D11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Thread-safe design: Concurrent access support with check_same_thread=False for multi-user Streamlit deployment</a:t>
            </a:r>
            <a:endParaRPr sz="1200">
              <a:solidFill>
                <a:srgbClr val="0D11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860806178_1_5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SzPts val="3600"/>
              <a:buNone/>
            </a:pPr>
            <a:r>
              <a:rPr b="0" lang="en" sz="23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Feature 5&amp;6: </a:t>
            </a:r>
            <a:r>
              <a:rPr b="0" lang="en" sz="23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LangSmith Integration </a:t>
            </a:r>
            <a:r>
              <a:rPr b="0" lang="en" sz="23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&amp; </a:t>
            </a:r>
            <a:r>
              <a:rPr b="0" lang="en" sz="23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Database Selection</a:t>
            </a:r>
            <a:endParaRPr sz="2300"/>
          </a:p>
        </p:txBody>
      </p:sp>
      <p:sp>
        <p:nvSpPr>
          <p:cNvPr id="100" name="Google Shape;100;g3b860806178_1_5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Production-Grade Monitoring:</a:t>
            </a:r>
            <a:endParaRPr b="1" sz="1500">
              <a:solidFill>
                <a:srgbClr val="0D11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Distributed tracing: Track all 5 agents (router → checker → SQL/RAG → synthesizer) with execution times, token costs, and state transitions</a:t>
            </a:r>
            <a:endParaRPr sz="1300">
              <a:solidFill>
                <a:srgbClr val="0D11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Zero-code instrumentation:  automatic LLM call tracking, prompt visibility, and error pinpointing</a:t>
            </a:r>
            <a:endParaRPr sz="1300">
              <a:solidFill>
                <a:srgbClr val="0D11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optimization: Identify bottlenecks (slow SQL queries, expensive embeddings) and debug multi-agent failures instantly</a:t>
            </a:r>
            <a:endParaRPr sz="1300">
              <a:solidFill>
                <a:srgbClr val="0D11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D11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D111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Selection</a:t>
            </a:r>
            <a:r>
              <a:rPr b="1" lang="en" sz="16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600">
              <a:solidFill>
                <a:srgbClr val="0D111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ChromaDB over FAISS: Persistent disk storage, native metadata filtering, easy updates - production-ready vs research library</a:t>
            </a:r>
            <a:endParaRPr sz="1200">
              <a:solidFill>
                <a:srgbClr val="0D11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DuckDB over PostgreSQL: Embedded single-file, OLAP-optimized columnar storage for fast analytics handles 100M+ rows</a:t>
            </a:r>
            <a:endParaRPr sz="1200">
              <a:solidFill>
                <a:srgbClr val="0D11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architecture: DuckDB for precise filters/aggregations + ChromaDB for semantic similarity + SQLite for conversation state = optimal performance per use case</a:t>
            </a:r>
            <a:endParaRPr sz="1200">
              <a:solidFill>
                <a:srgbClr val="0D11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860806178_1_63"/>
          <p:cNvSpPr txBox="1"/>
          <p:nvPr>
            <p:ph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106" name="Google Shape;106;g3b860806178_1_63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